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6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B8D3FF"/>
                </a:solidFill>
                <a:latin typeface="Aptos"/>
              </a:rPr>
              <a:t>AIONOS · ASSIGNMENT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5836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Veridian IT</a:t>
            </a:r>
            <a:br/>
            <a:r>
              <a:rPr sz="4600" b="1">
                <a:solidFill>
                  <a:srgbClr val="FFFFFF"/>
                </a:solidFill>
                <a:latin typeface="Aptos"/>
              </a:rPr>
              <a:t>Service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200400"/>
            <a:ext cx="621792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100" b="0">
                <a:solidFill>
                  <a:srgbClr val="DCE6F9"/>
                </a:solidFill>
                <a:latin typeface="Aptos"/>
              </a:rPr>
              <a:t>Policy-grounded employee support that resolves safe requests, asks only what matters, and escalates without inventing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234440"/>
            <a:ext cx="3749039" cy="4297680"/>
          </a:xfrm>
          <a:prstGeom prst="round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WORKING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24028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9572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supplied employee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24612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40156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grounded source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25196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407408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slides · one defensible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53912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B8D3FF"/>
                </a:solidFill>
                <a:latin typeface="Aptos"/>
              </a:rPr>
              <a:t>Lakshya Rathi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458A6"/>
                </a:solidFill>
                <a:latin typeface="Aptos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6233F"/>
                </a:solidFill>
                <a:latin typeface="Aptos"/>
              </a:rPr>
              <a:t>The service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596784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182880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Messy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3017520" cy="10241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Employees describe symptoms, urgency and partial context, not policy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73152" cy="182880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9280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Split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0008"/>
            <a:ext cx="3017520" cy="10241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IT, Security, Finance, managers and employees each own different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9164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691640"/>
            <a:ext cx="73152" cy="182880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92808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Risk of overreach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50008"/>
            <a:ext cx="2971800" cy="10241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A helpful-sounding answer can grant access or invent a policy that does not exist.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458A6"/>
                </a:solidFill>
                <a:latin typeface="Aptos"/>
              </a:rPr>
              <a:t>Design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6233F"/>
                </a:solidFill>
                <a:latin typeface="Aptos"/>
              </a:rPr>
              <a:t>Make every answer useful and traceable while keeping authority boundaries visible.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458A6"/>
                </a:solidFill>
                <a:latin typeface="Aptos"/>
              </a:rPr>
              <a:t>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6233F"/>
                </a:solidFill>
                <a:latin typeface="Aptos"/>
              </a:rPr>
              <a:t>Source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596784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182880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4892040" cy="10241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KB-01 to KB-10 cover password, VPN, hardware, software, printer, mailbox, guest Wi-Fi, expense login, security and home-office equipment.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73152" cy="182880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92808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Current asset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50008"/>
            <a:ext cx="4892040" cy="10241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Q2 2026 sets a four-year hardware refresh cycle and adds Finance sign-off for early replacement.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40480"/>
            <a:ext cx="5303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40480"/>
            <a:ext cx="73152" cy="1508760"/>
          </a:xfrm>
          <a:prstGeom prst="rect">
            <a:avLst/>
          </a:prstGeom>
          <a:solidFill>
            <a:srgbClr val="1C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41648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Operational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98848"/>
            <a:ext cx="4892040" cy="7040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15 employee requests plus 10 queue records. Closed history stays visible; four tickets remain active.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40480"/>
            <a:ext cx="53035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840480"/>
            <a:ext cx="73152" cy="150876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41648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Hard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892040" cy="7040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No URLs, approvals, asset tags, employment types, catalog contents or access policies are invented.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458A6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6233F"/>
                </a:solidFill>
                <a:latin typeface="Aptos"/>
              </a:rPr>
              <a:t>Decision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596784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8288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458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6233F"/>
                </a:solidFill>
                <a:latin typeface="Apto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081528"/>
            <a:ext cx="1444752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96784"/>
                </a:solidFill>
                <a:latin typeface="Aptos"/>
              </a:rPr>
              <a:t>Issue + current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1" y="256032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2458A6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874519"/>
            <a:ext cx="18288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458A6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6233F"/>
                </a:solidFill>
                <a:latin typeface="Aptos"/>
              </a:rPr>
              <a:t>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3081528"/>
            <a:ext cx="1444752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96784"/>
                </a:solidFill>
                <a:latin typeface="Aptos"/>
              </a:rPr>
              <a:t>Ambiguity /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56032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2458A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9784" y="1874519"/>
            <a:ext cx="18288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458A6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6233F"/>
                </a:solidFill>
                <a:latin typeface="Aptos"/>
              </a:rPr>
              <a:t>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3081528"/>
            <a:ext cx="1444752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96784"/>
                </a:solidFill>
                <a:latin typeface="Aptos"/>
              </a:rPr>
              <a:t>Match supplied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256032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2458A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496" y="1874519"/>
            <a:ext cx="18288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458A6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6233F"/>
                </a:solidFill>
                <a:latin typeface="Aptos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3081528"/>
            <a:ext cx="1444752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96784"/>
                </a:solidFill>
                <a:latin typeface="Aptos"/>
              </a:rPr>
              <a:t>Resolve / ask /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56032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2458A6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65208" y="1874519"/>
            <a:ext cx="18288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0574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458A6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6233F"/>
                </a:solidFill>
                <a:latin typeface="Aptos"/>
              </a:rPr>
              <a:t>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081528"/>
            <a:ext cx="1444752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96784"/>
                </a:solidFill>
                <a:latin typeface="Aptos"/>
              </a:rPr>
              <a:t>Ticket +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0916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Streamlit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26280"/>
            <a:ext cx="2331720" cy="731520"/>
          </a:xfrm>
          <a:prstGeom prst="round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470916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Deterministic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4526280"/>
            <a:ext cx="2743200" cy="731520"/>
          </a:xfrm>
          <a:prstGeom prst="roundRect">
            <a:avLst/>
          </a:prstGeom>
          <a:solidFill>
            <a:srgbClr val="15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70916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Policy records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600" y="4526280"/>
            <a:ext cx="2286000" cy="731520"/>
          </a:xfrm>
          <a:prstGeom prst="roundRect">
            <a:avLst/>
          </a:prstGeom>
          <a:solidFill>
            <a:srgbClr val="1C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4709160"/>
            <a:ext cx="1371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JSON output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4526280"/>
            <a:ext cx="1828800" cy="731520"/>
          </a:xfrm>
          <a:prstGeom prst="round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4709160"/>
            <a:ext cx="218541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Streamlit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4709160"/>
            <a:ext cx="25968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Deterministic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4709160"/>
            <a:ext cx="21396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Policy records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0072" y="4709160"/>
            <a:ext cx="1682496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JSON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458A6"/>
                </a:solidFill>
                <a:latin typeface="Aptos"/>
              </a:rPr>
              <a:t>AGENT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6233F"/>
                </a:solidFill>
                <a:latin typeface="Aptos"/>
              </a:rPr>
              <a:t>Three response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596784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4747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73152" cy="3291840"/>
          </a:xfrm>
          <a:prstGeom prst="rect">
            <a:avLst/>
          </a:prstGeom>
          <a:solidFill>
            <a:srgbClr val="1C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Resolve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3063239" cy="2487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Guest Wi-Fi → front-desk kiosk</a:t>
            </a:r>
            <a:br/>
            <a:r>
              <a:rPr sz="1500" b="0">
                <a:solidFill>
                  <a:srgbClr val="596784"/>
                </a:solidFill>
                <a:latin typeface="Aptos"/>
              </a:rPr>
              <a:t>Expired VPN → employee renewal</a:t>
            </a:r>
            <a:br/>
            <a:r>
              <a:rPr sz="1500" b="0">
                <a:solidFill>
                  <a:srgbClr val="596784"/>
                </a:solidFill>
                <a:latin typeface="Aptos"/>
              </a:rPr>
              <a:t>Catalog software → self-install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747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737360"/>
            <a:ext cx="73152" cy="329184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3852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95728"/>
            <a:ext cx="3063239" cy="2487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Vague issue → system, error, timing</a:t>
            </a:r>
            <a:br/>
            <a:r>
              <a:rPr sz="1500" b="0">
                <a:solidFill>
                  <a:srgbClr val="596784"/>
                </a:solidFill>
                <a:latin typeface="Aptos"/>
              </a:rPr>
              <a:t>Printer → asset tag after restart</a:t>
            </a:r>
            <a:br/>
            <a:r>
              <a:rPr sz="1500" b="0">
                <a:solidFill>
                  <a:srgbClr val="596784"/>
                </a:solidFill>
                <a:latin typeface="Aptos"/>
              </a:rPr>
              <a:t>Expense login → confirm account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4747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73152" cy="329184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3852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Escalate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063239" cy="2487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Phishing → Security immediately</a:t>
            </a:r>
            <a:br/>
            <a:r>
              <a:rPr sz="1500" b="0">
                <a:solidFill>
                  <a:srgbClr val="596784"/>
                </a:solidFill>
                <a:latin typeface="Aptos"/>
              </a:rPr>
              <a:t>Admin access → human owner</a:t>
            </a:r>
            <a:br/>
            <a:r>
              <a:rPr sz="1500" b="0">
                <a:solidFill>
                  <a:srgbClr val="596784"/>
                </a:solidFill>
                <a:latin typeface="Aptos"/>
              </a:rPr>
              <a:t>Early laptop → IT +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6233F"/>
                </a:solidFill>
                <a:latin typeface="Aptos"/>
              </a:rPr>
              <a:t>Every mode returns route, status, rationale and source IDs.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458A6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6233F"/>
                </a:solidFill>
                <a:latin typeface="Aptos"/>
              </a:rPr>
              <a:t>Safety case: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596784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703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219456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32918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Employee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3291839" cy="1389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“I think I got a phishing email asking for my login — forwarding it to a few teammates to check.”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91640"/>
            <a:ext cx="32461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691640"/>
            <a:ext cx="73152" cy="219456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92808"/>
            <a:ext cx="28346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Agent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50008"/>
            <a:ext cx="2834639" cy="1389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Critical priority · escalate to Security immediately · explicitly say not to forward to employees.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73152" cy="21945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92808"/>
            <a:ext cx="315467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50008"/>
            <a:ext cx="3154679" cy="1389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KB-09 only: report to security@veridian-corp.example immediately and restrict forwarding.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2458A6"/>
                </a:solidFill>
                <a:latin typeface="Aptos"/>
              </a:rPr>
              <a:t>Authority stays narrow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56048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6233F"/>
                </a:solidFill>
                <a:latin typeface="Aptos"/>
              </a:rPr>
              <a:t>The agent does not inspect the email, promise remediation, or widen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458A6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6233F"/>
                </a:solidFill>
                <a:latin typeface="Aptos"/>
              </a:rPr>
              <a:t>Judgment case: laptop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596784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73152" cy="205740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Older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3063239" cy="12527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KB-03 says replacement after 3 years or verified failure; requests need 2 weeks’ lead.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737360"/>
            <a:ext cx="73152" cy="205740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3852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Newer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95728"/>
            <a:ext cx="3063239" cy="12527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Q2 2026 Asset extract sets a 4-year refresh; early replacement adds Finance + IT sign-off.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73152" cy="2057400"/>
          </a:xfrm>
          <a:prstGeom prst="rect">
            <a:avLst/>
          </a:prstGeom>
          <a:solidFill>
            <a:srgbClr val="1C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3852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Safe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063239" cy="12527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REQ-01 at 3.5 years gets hardware inspection, high priority, and early-replacement controls.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500" b="1">
                <a:solidFill>
                  <a:srgbClr val="16233F"/>
                </a:solidFill>
                <a:latin typeface="Aptos"/>
              </a:rPr>
              <a:t>Both sources are shown. The stricter current control wins without deleting the useful KB steps.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458A6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6233F"/>
                </a:solidFill>
                <a:latin typeface="Aptos"/>
              </a:rPr>
              <a:t>Prototype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596784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160020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Resolve a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4892040" cy="7955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Load any supplied case or enter a new one. See route, priority, status, answer, follow-up and exact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3035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73152" cy="1600200"/>
          </a:xfrm>
          <a:prstGeom prst="rect">
            <a:avLst/>
          </a:prstGeom>
          <a:solidFill>
            <a:srgbClr val="1C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92808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Request inbox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50008"/>
            <a:ext cx="4892040" cy="7955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Browse all 15 supplied requests with original wording and action state intact.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57600"/>
            <a:ext cx="53035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57600"/>
            <a:ext cx="73152" cy="160020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58768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Ticket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15968"/>
            <a:ext cx="4892040" cy="7955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See closed history and active cases without treating approvals as work to redo.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530352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57600"/>
            <a:ext cx="73152" cy="160020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858768"/>
            <a:ext cx="4892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Knowledge &amp;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15968"/>
            <a:ext cx="4892040" cy="7955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Read every source; download timestamped session audit and structured ticket 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458A6"/>
                </a:solidFill>
                <a:latin typeface="Aptos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6233F"/>
                </a:solidFill>
                <a:latin typeface="Aptos"/>
              </a:rPr>
              <a:t>Validation and AI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596784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47472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3246120"/>
          </a:xfrm>
          <a:prstGeom prst="rect">
            <a:avLst/>
          </a:prstGeom>
          <a:solidFill>
            <a:srgbClr val="1C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Scenario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3063239" cy="24414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Tests assert all 15 employee requests, ticket shape, four active tickets, security handling and policy overlap.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7472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73152" cy="324612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9280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Optional Groq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50008"/>
            <a:ext cx="3063239" cy="24414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Groq is limited to a closed-set intent suggestion. Deterministic rules own policy, action and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7472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73152" cy="324612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9280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Safe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50008"/>
            <a:ext cx="3063239" cy="24414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No key, invalid model output or API failure keeps the full app working in deterministic mode.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96784"/>
                </a:solidFill>
                <a:latin typeface="Aptos"/>
              </a:rPr>
              <a:t>Evidence: pytest · clean environment · Streamlit health check · browser flow inspection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458A6"/>
                </a:solidFill>
                <a:latin typeface="Aptos"/>
              </a:rPr>
              <a:t>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6233F"/>
                </a:solidFill>
                <a:latin typeface="Aptos"/>
              </a:rPr>
              <a:t>Deployment and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596784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1508760"/>
          </a:xfrm>
          <a:prstGeom prst="rect">
            <a:avLst/>
          </a:prstGeom>
          <a:solidFill>
            <a:srgbClr val="1C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One-command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3063239" cy="7040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pip install -r requirements.txt</a:t>
            </a:r>
            <a:br/>
            <a:r>
              <a:rPr sz="1500" b="0">
                <a:solidFill>
                  <a:srgbClr val="596784"/>
                </a:solidFill>
                <a:latin typeface="Aptos"/>
              </a:rPr>
              <a:t>streamlit run app.py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73152" cy="1508760"/>
          </a:xfrm>
          <a:prstGeom prst="rect">
            <a:avLst/>
          </a:prstGeom>
          <a:solidFill>
            <a:srgbClr val="2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9280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Community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50008"/>
            <a:ext cx="3063239" cy="7040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Push repo · select app.py · optional secrets · deploy with Python 3.11 runtime.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73152" cy="1508760"/>
          </a:xfrm>
          <a:prstGeom prst="rect">
            <a:avLst/>
          </a:prstGeom>
          <a:solidFill>
            <a:srgbClr val="B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92808"/>
            <a:ext cx="306323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233F"/>
                </a:solidFill>
                <a:latin typeface="Aptos"/>
              </a:rPr>
              <a:t>Submission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50008"/>
            <a:ext cx="3063239" cy="7040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596784"/>
                </a:solidFill>
                <a:latin typeface="Aptos"/>
              </a:rPr>
              <a:t>Code, tests, README, architecture, assumptions, AI disclosure, demo script and 10-slide PPTX.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458A6"/>
                </a:solidFill>
                <a:latin typeface="Aptos"/>
              </a:rPr>
              <a:t>Defence 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16233F"/>
                </a:solidFill>
                <a:latin typeface="Aptos"/>
              </a:rPr>
              <a:t>The best internal service agent is not the one that automates the most. It is the one that makes the next safe action obvious.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6784"/>
                </a:solidFill>
                <a:latin typeface="Aptos"/>
              </a:rPr>
              <a:t>Candidate action after handoff: publish the GitHub repo and record the required open-access demo video.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